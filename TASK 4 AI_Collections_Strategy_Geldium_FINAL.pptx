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263EA-A350-415B-A16B-19B227765EA4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616BB836-207A-42AD-9C71-4728F3E16916}">
      <dgm:prSet phldrT="[Text]"/>
      <dgm:spPr/>
      <dgm:t>
        <a:bodyPr/>
        <a:lstStyle/>
        <a:p>
          <a:r>
            <a:rPr lang="en-I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Data Ingestion</a:t>
          </a:r>
        </a:p>
      </dgm:t>
    </dgm:pt>
    <dgm:pt modelId="{E42304F3-AF47-4119-AD3F-A4DFABFE14CD}" type="parTrans" cxnId="{F5A67C70-4E6D-4587-BA46-4B8E614C1FD3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CC887B9F-2668-473E-8AC1-FDB3DB18079C}" type="sibTrans" cxnId="{F5A67C70-4E6D-4587-BA46-4B8E614C1FD3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F29DE41B-66F0-4B56-B80E-07C0141EA6F4}">
      <dgm:prSet phldrT="[Text]"/>
      <dgm:spPr/>
      <dgm:t>
        <a:bodyPr/>
        <a:lstStyle/>
        <a:p>
          <a:r>
            <a:rPr lang="en-I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Risk Prediction</a:t>
          </a:r>
        </a:p>
      </dgm:t>
    </dgm:pt>
    <dgm:pt modelId="{960D3705-B5A6-4126-B1AB-6391FF0DEDA4}" type="parTrans" cxnId="{4E9639BD-69F4-471B-B0F0-562420150CAE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2A1E37A9-FFFA-4128-83B3-F6830A720DF9}" type="sibTrans" cxnId="{4E9639BD-69F4-471B-B0F0-562420150CAE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3F06DD95-626A-4CA8-AADF-BBC4BF0F45F1}">
      <dgm:prSet phldrT="[Text]"/>
      <dgm:spPr/>
      <dgm:t>
        <a:bodyPr/>
        <a:lstStyle/>
        <a:p>
          <a:r>
            <a:rPr lang="en-I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Decision Engine</a:t>
          </a:r>
        </a:p>
      </dgm:t>
    </dgm:pt>
    <dgm:pt modelId="{B51AA15A-DA22-466E-9E27-388AD6EE2C16}" type="parTrans" cxnId="{BF8875A5-4B29-4D0D-B571-5A6B3EFDF2BC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BA4A4738-06C0-46DF-ADD6-D286976E7413}" type="sibTrans" cxnId="{BF8875A5-4B29-4D0D-B571-5A6B3EFDF2BC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777C866A-2A47-4C5E-A93C-1388126BB940}">
      <dgm:prSet phldrT="[Text]"/>
      <dgm:spPr/>
      <dgm:t>
        <a:bodyPr/>
        <a:lstStyle/>
        <a:p>
          <a:r>
            <a:rPr lang="en-I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Action Triggered</a:t>
          </a:r>
        </a:p>
      </dgm:t>
    </dgm:pt>
    <dgm:pt modelId="{3B8F6925-A688-4F67-857C-2D74FE50450F}" type="parTrans" cxnId="{DBF3FD99-6398-44B4-A7F7-FE48870741CA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7E262AA9-D3A7-4E2A-BC78-C7373206E53A}" type="sibTrans" cxnId="{DBF3FD99-6398-44B4-A7F7-FE48870741CA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25C5D38C-14B9-4A13-B972-0A85D8A9F88D}">
      <dgm:prSet phldrT="[Text]"/>
      <dgm:spPr/>
      <dgm:t>
        <a:bodyPr/>
        <a:lstStyle/>
        <a:p>
          <a:r>
            <a:rPr lang="en-I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Outcome Monitoring</a:t>
          </a:r>
        </a:p>
      </dgm:t>
    </dgm:pt>
    <dgm:pt modelId="{89CC8975-6D77-44D4-8FE4-ED4FC345E8DC}" type="parTrans" cxnId="{4FAE5094-9277-4D15-B3D3-B8DF21791CCF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2D13BE18-AC03-45A6-B3D0-7222A141629E}" type="sibTrans" cxnId="{4FAE5094-9277-4D15-B3D3-B8DF21791CCF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EB57EA2B-6587-4FB3-A12C-8D1CCF036330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Learning Loop (feeds back into system)</a:t>
          </a:r>
          <a:endParaRPr lang="en-IN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AE2F32F2-4B5A-441E-9CAF-3406C34CE9F4}" type="parTrans" cxnId="{A48D41D2-5A67-4936-A9D7-C89EEA2E3CE9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C07A3A91-D74F-4E6C-98EE-705219B675C6}" type="sibTrans" cxnId="{A48D41D2-5A67-4936-A9D7-C89EEA2E3CE9}">
      <dgm:prSet/>
      <dgm:spPr/>
      <dgm:t>
        <a:bodyPr/>
        <a:lstStyle/>
        <a:p>
          <a:endParaRPr lang="en-IN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gm:t>
    </dgm:pt>
    <dgm:pt modelId="{7DCBA207-1FAA-4A3B-B682-2B632B49E34A}" type="pres">
      <dgm:prSet presAssocID="{F7A263EA-A350-415B-A16B-19B227765EA4}" presName="Name0" presStyleCnt="0">
        <dgm:presLayoutVars>
          <dgm:dir/>
          <dgm:resizeHandles val="exact"/>
        </dgm:presLayoutVars>
      </dgm:prSet>
      <dgm:spPr/>
    </dgm:pt>
    <dgm:pt modelId="{620C2070-77EC-4066-ABDA-AFA7FE95807A}" type="pres">
      <dgm:prSet presAssocID="{616BB836-207A-42AD-9C71-4728F3E16916}" presName="node" presStyleLbl="node1" presStyleIdx="0" presStyleCnt="6" custScaleY="258429">
        <dgm:presLayoutVars>
          <dgm:bulletEnabled val="1"/>
        </dgm:presLayoutVars>
      </dgm:prSet>
      <dgm:spPr/>
    </dgm:pt>
    <dgm:pt modelId="{74CF3E29-86CA-483A-8F10-F1BDA38CC4BE}" type="pres">
      <dgm:prSet presAssocID="{CC887B9F-2668-473E-8AC1-FDB3DB18079C}" presName="sibTrans" presStyleLbl="sibTrans2D1" presStyleIdx="0" presStyleCnt="5"/>
      <dgm:spPr/>
    </dgm:pt>
    <dgm:pt modelId="{22EF5644-E75E-460C-A4CD-0D316BADC4BC}" type="pres">
      <dgm:prSet presAssocID="{CC887B9F-2668-473E-8AC1-FDB3DB18079C}" presName="connectorText" presStyleLbl="sibTrans2D1" presStyleIdx="0" presStyleCnt="5"/>
      <dgm:spPr/>
    </dgm:pt>
    <dgm:pt modelId="{2A77EFEA-EC5B-42B4-A18F-FCE2B58AC708}" type="pres">
      <dgm:prSet presAssocID="{F29DE41B-66F0-4B56-B80E-07C0141EA6F4}" presName="node" presStyleLbl="node1" presStyleIdx="1" presStyleCnt="6" custScaleY="258429">
        <dgm:presLayoutVars>
          <dgm:bulletEnabled val="1"/>
        </dgm:presLayoutVars>
      </dgm:prSet>
      <dgm:spPr/>
    </dgm:pt>
    <dgm:pt modelId="{05D6BDDF-E568-475F-8C51-8E42BB0F41DC}" type="pres">
      <dgm:prSet presAssocID="{2A1E37A9-FFFA-4128-83B3-F6830A720DF9}" presName="sibTrans" presStyleLbl="sibTrans2D1" presStyleIdx="1" presStyleCnt="5"/>
      <dgm:spPr/>
    </dgm:pt>
    <dgm:pt modelId="{77348C4B-0E96-4BB5-A4F6-1474FDD106F3}" type="pres">
      <dgm:prSet presAssocID="{2A1E37A9-FFFA-4128-83B3-F6830A720DF9}" presName="connectorText" presStyleLbl="sibTrans2D1" presStyleIdx="1" presStyleCnt="5"/>
      <dgm:spPr/>
    </dgm:pt>
    <dgm:pt modelId="{C5E8CC0F-98A6-4FDF-8511-054F34BAB966}" type="pres">
      <dgm:prSet presAssocID="{3F06DD95-626A-4CA8-AADF-BBC4BF0F45F1}" presName="node" presStyleLbl="node1" presStyleIdx="2" presStyleCnt="6" custScaleY="258429">
        <dgm:presLayoutVars>
          <dgm:bulletEnabled val="1"/>
        </dgm:presLayoutVars>
      </dgm:prSet>
      <dgm:spPr/>
    </dgm:pt>
    <dgm:pt modelId="{FD3749F3-EC8B-49C5-A2FE-116D1607CA1D}" type="pres">
      <dgm:prSet presAssocID="{BA4A4738-06C0-46DF-ADD6-D286976E7413}" presName="sibTrans" presStyleLbl="sibTrans2D1" presStyleIdx="2" presStyleCnt="5"/>
      <dgm:spPr/>
    </dgm:pt>
    <dgm:pt modelId="{7D97E654-A942-47F5-843B-73A7DCCFBF1C}" type="pres">
      <dgm:prSet presAssocID="{BA4A4738-06C0-46DF-ADD6-D286976E7413}" presName="connectorText" presStyleLbl="sibTrans2D1" presStyleIdx="2" presStyleCnt="5"/>
      <dgm:spPr/>
    </dgm:pt>
    <dgm:pt modelId="{E57728C4-539F-40E9-8508-8CC17418D743}" type="pres">
      <dgm:prSet presAssocID="{777C866A-2A47-4C5E-A93C-1388126BB940}" presName="node" presStyleLbl="node1" presStyleIdx="3" presStyleCnt="6" custScaleY="258429">
        <dgm:presLayoutVars>
          <dgm:bulletEnabled val="1"/>
        </dgm:presLayoutVars>
      </dgm:prSet>
      <dgm:spPr/>
    </dgm:pt>
    <dgm:pt modelId="{8D546FC3-01D0-4095-9AE9-0519333F40B5}" type="pres">
      <dgm:prSet presAssocID="{7E262AA9-D3A7-4E2A-BC78-C7373206E53A}" presName="sibTrans" presStyleLbl="sibTrans2D1" presStyleIdx="3" presStyleCnt="5"/>
      <dgm:spPr/>
    </dgm:pt>
    <dgm:pt modelId="{8CC6BFAD-2266-4909-9EE7-EE479B40B9DB}" type="pres">
      <dgm:prSet presAssocID="{7E262AA9-D3A7-4E2A-BC78-C7373206E53A}" presName="connectorText" presStyleLbl="sibTrans2D1" presStyleIdx="3" presStyleCnt="5"/>
      <dgm:spPr/>
    </dgm:pt>
    <dgm:pt modelId="{513A75FB-3DC2-45CC-9B48-6BCDE41C8D03}" type="pres">
      <dgm:prSet presAssocID="{25C5D38C-14B9-4A13-B972-0A85D8A9F88D}" presName="node" presStyleLbl="node1" presStyleIdx="4" presStyleCnt="6" custScaleY="258429">
        <dgm:presLayoutVars>
          <dgm:bulletEnabled val="1"/>
        </dgm:presLayoutVars>
      </dgm:prSet>
      <dgm:spPr/>
    </dgm:pt>
    <dgm:pt modelId="{FCBA81F1-2671-4C61-A8E6-069E2080E224}" type="pres">
      <dgm:prSet presAssocID="{2D13BE18-AC03-45A6-B3D0-7222A141629E}" presName="sibTrans" presStyleLbl="sibTrans2D1" presStyleIdx="4" presStyleCnt="5"/>
      <dgm:spPr/>
    </dgm:pt>
    <dgm:pt modelId="{A1157D52-0F13-4C40-923A-877559E7E569}" type="pres">
      <dgm:prSet presAssocID="{2D13BE18-AC03-45A6-B3D0-7222A141629E}" presName="connectorText" presStyleLbl="sibTrans2D1" presStyleIdx="4" presStyleCnt="5"/>
      <dgm:spPr/>
    </dgm:pt>
    <dgm:pt modelId="{DD7FF708-8D43-45D8-AD36-B283686DD8E8}" type="pres">
      <dgm:prSet presAssocID="{EB57EA2B-6587-4FB3-A12C-8D1CCF036330}" presName="node" presStyleLbl="node1" presStyleIdx="5" presStyleCnt="6" custScaleY="258429">
        <dgm:presLayoutVars>
          <dgm:bulletEnabled val="1"/>
        </dgm:presLayoutVars>
      </dgm:prSet>
      <dgm:spPr/>
    </dgm:pt>
  </dgm:ptLst>
  <dgm:cxnLst>
    <dgm:cxn modelId="{797ABF12-91C5-48DE-8D25-CD33A27908ED}" type="presOf" srcId="{777C866A-2A47-4C5E-A93C-1388126BB940}" destId="{E57728C4-539F-40E9-8508-8CC17418D743}" srcOrd="0" destOrd="0" presId="urn:microsoft.com/office/officeart/2005/8/layout/process1"/>
    <dgm:cxn modelId="{1FB95434-2DB4-424E-BC77-D4D178933EC3}" type="presOf" srcId="{2D13BE18-AC03-45A6-B3D0-7222A141629E}" destId="{A1157D52-0F13-4C40-923A-877559E7E569}" srcOrd="1" destOrd="0" presId="urn:microsoft.com/office/officeart/2005/8/layout/process1"/>
    <dgm:cxn modelId="{00AA345C-7B87-44CB-85EB-646CAC562C0A}" type="presOf" srcId="{EB57EA2B-6587-4FB3-A12C-8D1CCF036330}" destId="{DD7FF708-8D43-45D8-AD36-B283686DD8E8}" srcOrd="0" destOrd="0" presId="urn:microsoft.com/office/officeart/2005/8/layout/process1"/>
    <dgm:cxn modelId="{5D796F60-9397-4469-AC79-047F76C8D885}" type="presOf" srcId="{2A1E37A9-FFFA-4128-83B3-F6830A720DF9}" destId="{77348C4B-0E96-4BB5-A4F6-1474FDD106F3}" srcOrd="1" destOrd="0" presId="urn:microsoft.com/office/officeart/2005/8/layout/process1"/>
    <dgm:cxn modelId="{D29D8843-B47F-4F7A-87A1-B204E35A0C29}" type="presOf" srcId="{CC887B9F-2668-473E-8AC1-FDB3DB18079C}" destId="{22EF5644-E75E-460C-A4CD-0D316BADC4BC}" srcOrd="1" destOrd="0" presId="urn:microsoft.com/office/officeart/2005/8/layout/process1"/>
    <dgm:cxn modelId="{CC5DAE6A-ED40-42A9-8C2F-7216B7ABE9E0}" type="presOf" srcId="{F29DE41B-66F0-4B56-B80E-07C0141EA6F4}" destId="{2A77EFEA-EC5B-42B4-A18F-FCE2B58AC708}" srcOrd="0" destOrd="0" presId="urn:microsoft.com/office/officeart/2005/8/layout/process1"/>
    <dgm:cxn modelId="{3C5EAF6D-810C-4E32-8B27-3C5D4C3CD3DA}" type="presOf" srcId="{7E262AA9-D3A7-4E2A-BC78-C7373206E53A}" destId="{8CC6BFAD-2266-4909-9EE7-EE479B40B9DB}" srcOrd="1" destOrd="0" presId="urn:microsoft.com/office/officeart/2005/8/layout/process1"/>
    <dgm:cxn modelId="{F5A67C70-4E6D-4587-BA46-4B8E614C1FD3}" srcId="{F7A263EA-A350-415B-A16B-19B227765EA4}" destId="{616BB836-207A-42AD-9C71-4728F3E16916}" srcOrd="0" destOrd="0" parTransId="{E42304F3-AF47-4119-AD3F-A4DFABFE14CD}" sibTransId="{CC887B9F-2668-473E-8AC1-FDB3DB18079C}"/>
    <dgm:cxn modelId="{62175579-4F33-465D-8255-09AD5134D41A}" type="presOf" srcId="{F7A263EA-A350-415B-A16B-19B227765EA4}" destId="{7DCBA207-1FAA-4A3B-B682-2B632B49E34A}" srcOrd="0" destOrd="0" presId="urn:microsoft.com/office/officeart/2005/8/layout/process1"/>
    <dgm:cxn modelId="{4FAE5094-9277-4D15-B3D3-B8DF21791CCF}" srcId="{F7A263EA-A350-415B-A16B-19B227765EA4}" destId="{25C5D38C-14B9-4A13-B972-0A85D8A9F88D}" srcOrd="4" destOrd="0" parTransId="{89CC8975-6D77-44D4-8FE4-ED4FC345E8DC}" sibTransId="{2D13BE18-AC03-45A6-B3D0-7222A141629E}"/>
    <dgm:cxn modelId="{DBF3FD99-6398-44B4-A7F7-FE48870741CA}" srcId="{F7A263EA-A350-415B-A16B-19B227765EA4}" destId="{777C866A-2A47-4C5E-A93C-1388126BB940}" srcOrd="3" destOrd="0" parTransId="{3B8F6925-A688-4F67-857C-2D74FE50450F}" sibTransId="{7E262AA9-D3A7-4E2A-BC78-C7373206E53A}"/>
    <dgm:cxn modelId="{48689D9C-9D5B-47F8-A1B6-82021F660064}" type="presOf" srcId="{25C5D38C-14B9-4A13-B972-0A85D8A9F88D}" destId="{513A75FB-3DC2-45CC-9B48-6BCDE41C8D03}" srcOrd="0" destOrd="0" presId="urn:microsoft.com/office/officeart/2005/8/layout/process1"/>
    <dgm:cxn modelId="{6B7327A4-D99C-4CF3-B3BA-2A3C0ECCB7FD}" type="presOf" srcId="{CC887B9F-2668-473E-8AC1-FDB3DB18079C}" destId="{74CF3E29-86CA-483A-8F10-F1BDA38CC4BE}" srcOrd="0" destOrd="0" presId="urn:microsoft.com/office/officeart/2005/8/layout/process1"/>
    <dgm:cxn modelId="{0E6675A4-FE6D-4D6E-BDF8-82C1A0452523}" type="presOf" srcId="{616BB836-207A-42AD-9C71-4728F3E16916}" destId="{620C2070-77EC-4066-ABDA-AFA7FE95807A}" srcOrd="0" destOrd="0" presId="urn:microsoft.com/office/officeart/2005/8/layout/process1"/>
    <dgm:cxn modelId="{BF8875A5-4B29-4D0D-B571-5A6B3EFDF2BC}" srcId="{F7A263EA-A350-415B-A16B-19B227765EA4}" destId="{3F06DD95-626A-4CA8-AADF-BBC4BF0F45F1}" srcOrd="2" destOrd="0" parTransId="{B51AA15A-DA22-466E-9E27-388AD6EE2C16}" sibTransId="{BA4A4738-06C0-46DF-ADD6-D286976E7413}"/>
    <dgm:cxn modelId="{400EE4AB-9110-4ACC-9E3C-77A13B1A86F8}" type="presOf" srcId="{2D13BE18-AC03-45A6-B3D0-7222A141629E}" destId="{FCBA81F1-2671-4C61-A8E6-069E2080E224}" srcOrd="0" destOrd="0" presId="urn:microsoft.com/office/officeart/2005/8/layout/process1"/>
    <dgm:cxn modelId="{EA4C1DB0-44ED-48F4-B75F-7936D9803B61}" type="presOf" srcId="{BA4A4738-06C0-46DF-ADD6-D286976E7413}" destId="{FD3749F3-EC8B-49C5-A2FE-116D1607CA1D}" srcOrd="0" destOrd="0" presId="urn:microsoft.com/office/officeart/2005/8/layout/process1"/>
    <dgm:cxn modelId="{4E9639BD-69F4-471B-B0F0-562420150CAE}" srcId="{F7A263EA-A350-415B-A16B-19B227765EA4}" destId="{F29DE41B-66F0-4B56-B80E-07C0141EA6F4}" srcOrd="1" destOrd="0" parTransId="{960D3705-B5A6-4126-B1AB-6391FF0DEDA4}" sibTransId="{2A1E37A9-FFFA-4128-83B3-F6830A720DF9}"/>
    <dgm:cxn modelId="{A48D41D2-5A67-4936-A9D7-C89EEA2E3CE9}" srcId="{F7A263EA-A350-415B-A16B-19B227765EA4}" destId="{EB57EA2B-6587-4FB3-A12C-8D1CCF036330}" srcOrd="5" destOrd="0" parTransId="{AE2F32F2-4B5A-441E-9CAF-3406C34CE9F4}" sibTransId="{C07A3A91-D74F-4E6C-98EE-705219B675C6}"/>
    <dgm:cxn modelId="{867895D2-FB14-4807-A84C-17AE8EE7EA17}" type="presOf" srcId="{7E262AA9-D3A7-4E2A-BC78-C7373206E53A}" destId="{8D546FC3-01D0-4095-9AE9-0519333F40B5}" srcOrd="0" destOrd="0" presId="urn:microsoft.com/office/officeart/2005/8/layout/process1"/>
    <dgm:cxn modelId="{2B25A4D7-BF46-49BB-BE18-ABFC03346F43}" type="presOf" srcId="{3F06DD95-626A-4CA8-AADF-BBC4BF0F45F1}" destId="{C5E8CC0F-98A6-4FDF-8511-054F34BAB966}" srcOrd="0" destOrd="0" presId="urn:microsoft.com/office/officeart/2005/8/layout/process1"/>
    <dgm:cxn modelId="{B8D130D8-EFCD-4A2A-B71B-559507A15F08}" type="presOf" srcId="{BA4A4738-06C0-46DF-ADD6-D286976E7413}" destId="{7D97E654-A942-47F5-843B-73A7DCCFBF1C}" srcOrd="1" destOrd="0" presId="urn:microsoft.com/office/officeart/2005/8/layout/process1"/>
    <dgm:cxn modelId="{F84CEEF6-6B70-4B86-B16B-B7B6E3553EC3}" type="presOf" srcId="{2A1E37A9-FFFA-4128-83B3-F6830A720DF9}" destId="{05D6BDDF-E568-475F-8C51-8E42BB0F41DC}" srcOrd="0" destOrd="0" presId="urn:microsoft.com/office/officeart/2005/8/layout/process1"/>
    <dgm:cxn modelId="{A5861AD1-F0CE-4991-BBBA-CB33BBF2ECC0}" type="presParOf" srcId="{7DCBA207-1FAA-4A3B-B682-2B632B49E34A}" destId="{620C2070-77EC-4066-ABDA-AFA7FE95807A}" srcOrd="0" destOrd="0" presId="urn:microsoft.com/office/officeart/2005/8/layout/process1"/>
    <dgm:cxn modelId="{12A933CF-0AD0-4DBA-9754-4713A39954F7}" type="presParOf" srcId="{7DCBA207-1FAA-4A3B-B682-2B632B49E34A}" destId="{74CF3E29-86CA-483A-8F10-F1BDA38CC4BE}" srcOrd="1" destOrd="0" presId="urn:microsoft.com/office/officeart/2005/8/layout/process1"/>
    <dgm:cxn modelId="{45963EC8-1DA2-448E-BF78-1F6D48F977CF}" type="presParOf" srcId="{74CF3E29-86CA-483A-8F10-F1BDA38CC4BE}" destId="{22EF5644-E75E-460C-A4CD-0D316BADC4BC}" srcOrd="0" destOrd="0" presId="urn:microsoft.com/office/officeart/2005/8/layout/process1"/>
    <dgm:cxn modelId="{844D779F-48EF-4093-88F0-42B8181AF33B}" type="presParOf" srcId="{7DCBA207-1FAA-4A3B-B682-2B632B49E34A}" destId="{2A77EFEA-EC5B-42B4-A18F-FCE2B58AC708}" srcOrd="2" destOrd="0" presId="urn:microsoft.com/office/officeart/2005/8/layout/process1"/>
    <dgm:cxn modelId="{A52B15F6-530F-4D53-BA97-B563C4D5DD79}" type="presParOf" srcId="{7DCBA207-1FAA-4A3B-B682-2B632B49E34A}" destId="{05D6BDDF-E568-475F-8C51-8E42BB0F41DC}" srcOrd="3" destOrd="0" presId="urn:microsoft.com/office/officeart/2005/8/layout/process1"/>
    <dgm:cxn modelId="{B886032C-4AB6-41F3-AAC7-5281EC40ED02}" type="presParOf" srcId="{05D6BDDF-E568-475F-8C51-8E42BB0F41DC}" destId="{77348C4B-0E96-4BB5-A4F6-1474FDD106F3}" srcOrd="0" destOrd="0" presId="urn:microsoft.com/office/officeart/2005/8/layout/process1"/>
    <dgm:cxn modelId="{C9B508C3-A39E-4662-8F59-EEC48E195C0C}" type="presParOf" srcId="{7DCBA207-1FAA-4A3B-B682-2B632B49E34A}" destId="{C5E8CC0F-98A6-4FDF-8511-054F34BAB966}" srcOrd="4" destOrd="0" presId="urn:microsoft.com/office/officeart/2005/8/layout/process1"/>
    <dgm:cxn modelId="{32C00763-1355-44D3-9478-E996284DE82A}" type="presParOf" srcId="{7DCBA207-1FAA-4A3B-B682-2B632B49E34A}" destId="{FD3749F3-EC8B-49C5-A2FE-116D1607CA1D}" srcOrd="5" destOrd="0" presId="urn:microsoft.com/office/officeart/2005/8/layout/process1"/>
    <dgm:cxn modelId="{C61E9253-4B7A-4122-9A31-EAA154C25CA0}" type="presParOf" srcId="{FD3749F3-EC8B-49C5-A2FE-116D1607CA1D}" destId="{7D97E654-A942-47F5-843B-73A7DCCFBF1C}" srcOrd="0" destOrd="0" presId="urn:microsoft.com/office/officeart/2005/8/layout/process1"/>
    <dgm:cxn modelId="{8737E897-D73B-469E-9B02-4C9BC58B3E58}" type="presParOf" srcId="{7DCBA207-1FAA-4A3B-B682-2B632B49E34A}" destId="{E57728C4-539F-40E9-8508-8CC17418D743}" srcOrd="6" destOrd="0" presId="urn:microsoft.com/office/officeart/2005/8/layout/process1"/>
    <dgm:cxn modelId="{F6A3EA3A-F265-490D-A7B7-1AFF3EDBF8BC}" type="presParOf" srcId="{7DCBA207-1FAA-4A3B-B682-2B632B49E34A}" destId="{8D546FC3-01D0-4095-9AE9-0519333F40B5}" srcOrd="7" destOrd="0" presId="urn:microsoft.com/office/officeart/2005/8/layout/process1"/>
    <dgm:cxn modelId="{47435B10-8137-41FF-A773-970DD4AA52C5}" type="presParOf" srcId="{8D546FC3-01D0-4095-9AE9-0519333F40B5}" destId="{8CC6BFAD-2266-4909-9EE7-EE479B40B9DB}" srcOrd="0" destOrd="0" presId="urn:microsoft.com/office/officeart/2005/8/layout/process1"/>
    <dgm:cxn modelId="{31E18E9E-F62C-413D-A4F2-82780F17A785}" type="presParOf" srcId="{7DCBA207-1FAA-4A3B-B682-2B632B49E34A}" destId="{513A75FB-3DC2-45CC-9B48-6BCDE41C8D03}" srcOrd="8" destOrd="0" presId="urn:microsoft.com/office/officeart/2005/8/layout/process1"/>
    <dgm:cxn modelId="{40BD230E-88A4-4115-827F-1D49C4979BCC}" type="presParOf" srcId="{7DCBA207-1FAA-4A3B-B682-2B632B49E34A}" destId="{FCBA81F1-2671-4C61-A8E6-069E2080E224}" srcOrd="9" destOrd="0" presId="urn:microsoft.com/office/officeart/2005/8/layout/process1"/>
    <dgm:cxn modelId="{0CDB6F04-5010-40D3-B044-7BF8CCC35DEA}" type="presParOf" srcId="{FCBA81F1-2671-4C61-A8E6-069E2080E224}" destId="{A1157D52-0F13-4C40-923A-877559E7E569}" srcOrd="0" destOrd="0" presId="urn:microsoft.com/office/officeart/2005/8/layout/process1"/>
    <dgm:cxn modelId="{184EF1BC-B475-4EDE-A0CF-865A9A05C7E9}" type="presParOf" srcId="{7DCBA207-1FAA-4A3B-B682-2B632B49E34A}" destId="{DD7FF708-8D43-45D8-AD36-B283686DD8E8}" srcOrd="10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0C2070-77EC-4066-ABDA-AFA7FE95807A}">
      <dsp:nvSpPr>
        <dsp:cNvPr id="0" name=""/>
        <dsp:cNvSpPr/>
      </dsp:nvSpPr>
      <dsp:spPr>
        <a:xfrm>
          <a:off x="0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Data Ingestion</a:t>
          </a:r>
        </a:p>
      </dsp:txBody>
      <dsp:txXfrm>
        <a:off x="33477" y="437607"/>
        <a:ext cx="1076045" cy="2453043"/>
      </dsp:txXfrm>
    </dsp:sp>
    <dsp:sp modelId="{74CF3E29-86CA-483A-8F10-F1BDA38CC4BE}">
      <dsp:nvSpPr>
        <dsp:cNvPr id="0" name=""/>
        <dsp:cNvSpPr/>
      </dsp:nvSpPr>
      <dsp:spPr>
        <a:xfrm>
          <a:off x="1257299" y="1522397"/>
          <a:ext cx="242315" cy="283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1257299" y="1579090"/>
        <a:ext cx="169621" cy="170077"/>
      </dsp:txXfrm>
    </dsp:sp>
    <dsp:sp modelId="{2A77EFEA-EC5B-42B4-A18F-FCE2B58AC708}">
      <dsp:nvSpPr>
        <dsp:cNvPr id="0" name=""/>
        <dsp:cNvSpPr/>
      </dsp:nvSpPr>
      <dsp:spPr>
        <a:xfrm>
          <a:off x="1600199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Risk Prediction</a:t>
          </a:r>
        </a:p>
      </dsp:txBody>
      <dsp:txXfrm>
        <a:off x="1633676" y="437607"/>
        <a:ext cx="1076045" cy="2453043"/>
      </dsp:txXfrm>
    </dsp:sp>
    <dsp:sp modelId="{05D6BDDF-E568-475F-8C51-8E42BB0F41DC}">
      <dsp:nvSpPr>
        <dsp:cNvPr id="0" name=""/>
        <dsp:cNvSpPr/>
      </dsp:nvSpPr>
      <dsp:spPr>
        <a:xfrm>
          <a:off x="2857499" y="1522397"/>
          <a:ext cx="242315" cy="283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2857499" y="1579090"/>
        <a:ext cx="169621" cy="170077"/>
      </dsp:txXfrm>
    </dsp:sp>
    <dsp:sp modelId="{C5E8CC0F-98A6-4FDF-8511-054F34BAB966}">
      <dsp:nvSpPr>
        <dsp:cNvPr id="0" name=""/>
        <dsp:cNvSpPr/>
      </dsp:nvSpPr>
      <dsp:spPr>
        <a:xfrm>
          <a:off x="3200399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Decision Engine</a:t>
          </a:r>
        </a:p>
      </dsp:txBody>
      <dsp:txXfrm>
        <a:off x="3233876" y="437607"/>
        <a:ext cx="1076045" cy="2453043"/>
      </dsp:txXfrm>
    </dsp:sp>
    <dsp:sp modelId="{FD3749F3-EC8B-49C5-A2FE-116D1607CA1D}">
      <dsp:nvSpPr>
        <dsp:cNvPr id="0" name=""/>
        <dsp:cNvSpPr/>
      </dsp:nvSpPr>
      <dsp:spPr>
        <a:xfrm>
          <a:off x="4457699" y="1522397"/>
          <a:ext cx="242315" cy="283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4457699" y="1579090"/>
        <a:ext cx="169621" cy="170077"/>
      </dsp:txXfrm>
    </dsp:sp>
    <dsp:sp modelId="{E57728C4-539F-40E9-8508-8CC17418D743}">
      <dsp:nvSpPr>
        <dsp:cNvPr id="0" name=""/>
        <dsp:cNvSpPr/>
      </dsp:nvSpPr>
      <dsp:spPr>
        <a:xfrm>
          <a:off x="4800599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Action Triggered</a:t>
          </a:r>
        </a:p>
      </dsp:txBody>
      <dsp:txXfrm>
        <a:off x="4834076" y="437607"/>
        <a:ext cx="1076045" cy="2453043"/>
      </dsp:txXfrm>
    </dsp:sp>
    <dsp:sp modelId="{8D546FC3-01D0-4095-9AE9-0519333F40B5}">
      <dsp:nvSpPr>
        <dsp:cNvPr id="0" name=""/>
        <dsp:cNvSpPr/>
      </dsp:nvSpPr>
      <dsp:spPr>
        <a:xfrm>
          <a:off x="6057899" y="1522397"/>
          <a:ext cx="242315" cy="283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6057899" y="1579090"/>
        <a:ext cx="169621" cy="170077"/>
      </dsp:txXfrm>
    </dsp:sp>
    <dsp:sp modelId="{513A75FB-3DC2-45CC-9B48-6BCDE41C8D03}">
      <dsp:nvSpPr>
        <dsp:cNvPr id="0" name=""/>
        <dsp:cNvSpPr/>
      </dsp:nvSpPr>
      <dsp:spPr>
        <a:xfrm>
          <a:off x="6400799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Outcome Monitoring</a:t>
          </a:r>
        </a:p>
      </dsp:txBody>
      <dsp:txXfrm>
        <a:off x="6434276" y="437607"/>
        <a:ext cx="1076045" cy="2453043"/>
      </dsp:txXfrm>
    </dsp:sp>
    <dsp:sp modelId="{FCBA81F1-2671-4C61-A8E6-069E2080E224}">
      <dsp:nvSpPr>
        <dsp:cNvPr id="0" name=""/>
        <dsp:cNvSpPr/>
      </dsp:nvSpPr>
      <dsp:spPr>
        <a:xfrm>
          <a:off x="7658099" y="1522397"/>
          <a:ext cx="242315" cy="283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7658099" y="1579090"/>
        <a:ext cx="169621" cy="170077"/>
      </dsp:txXfrm>
    </dsp:sp>
    <dsp:sp modelId="{DD7FF708-8D43-45D8-AD36-B283686DD8E8}">
      <dsp:nvSpPr>
        <dsp:cNvPr id="0" name=""/>
        <dsp:cNvSpPr/>
      </dsp:nvSpPr>
      <dsp:spPr>
        <a:xfrm>
          <a:off x="8000999" y="404130"/>
          <a:ext cx="1142999" cy="2519997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sto MT" panose="02040603050505030304" pitchFamily="18" charset="0"/>
            </a:rPr>
            <a:t>Learning Loop (feeds back into system)</a:t>
          </a:r>
          <a:endParaRPr lang="en-IN" sz="15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Calisto MT" panose="02040603050505030304" pitchFamily="18" charset="0"/>
          </a:endParaRPr>
        </a:p>
      </dsp:txBody>
      <dsp:txXfrm>
        <a:off x="8034476" y="437607"/>
        <a:ext cx="1076045" cy="2453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7E599-9B9B-ACEF-F122-0AACE0A48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F17F1-0898-9622-0D75-204C42428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97631-95A1-6C56-F6FB-962D88E6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18D34-AB49-3388-8D95-4EEDD6AD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B3F3A-E382-173D-BD99-0205E605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0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14C4-7698-00CC-3BDF-33495781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FE858-6310-9D27-9FEA-3C95C714A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09DD5-A0D7-9842-EDC2-7E9F9917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73EC-EF59-4FFB-E227-D35406CA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5F54-A9BA-2133-2139-604D44F1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4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8FBC-B8ED-910E-D997-EB25954C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38864-6CA8-13FA-3633-C9C74E8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0EC33-61FD-9490-7EFB-9545A906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8FC05-9367-B498-F35B-D0769C01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5F6B-42BB-5D3F-C4A0-444A18AB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76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5AAB-0694-165F-16D0-E020493C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C9E5-BCCD-0767-CC92-68B567B0F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8E275-1018-421B-D242-DBCDE13B5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C0FED-5794-9815-7B0B-DFC2B6AB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7EF07-89A3-E57C-CF9A-6B4104D3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12E3E-F838-18C0-EA4E-4FC1CAF2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AF77-1418-D27B-12D5-1045957C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8D820-A66A-33A6-FC62-3A0A9CC3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99C00-4595-20F2-F9D4-0AAA30A55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1806A-4461-8407-CE2C-BB78CEF10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1A6506-1EBE-6668-C0A8-13037EFAB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6B0FD-D68C-7BDD-49C7-50262AFF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27F92E-C33C-1A7D-A581-EDC70A66F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F6976-EC58-FB82-3ACC-90612AF9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5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A0A9-987D-D4F7-A054-1DA1472B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D5987-CB15-E81D-168D-BE5D6AA0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3C6F7-1609-A691-0859-6689034E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CA0DA-881E-D001-274A-CB849500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20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386DA-9C84-07B7-20AB-D391667F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33188-70C0-22D4-DAE8-4866F0C3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8A257-49B5-7C93-9823-78FC7C9E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8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4037-AA59-7924-F3CF-D602FD083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B518-591B-7163-2AFB-F3CB7F68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CF398-544F-3856-4931-23E6A3B6D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9E830-4E31-4B61-F293-0DEE3F52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A25EA-7CB3-0C64-8A55-9795BF5A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43B09-7678-4D94-C24E-F0AB2017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E9CE-7C02-F269-3A3C-199D28CF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8EB9B-EF09-F2A0-7407-AE7816F5C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8A3B6-84E1-82DE-BC67-DE3F3FEC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647A-7BBC-A4BA-AF24-ED948A2F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008ED-B1F4-903A-399C-4991DA2D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AD5EA-B059-D9D2-3EC5-E8BF4FF4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0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ADFB-D65F-E3F3-88E1-F9F996FD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85ECE-6D47-8938-D309-63403B808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4B6D7-A066-9384-901E-FADFD96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9D90C-CBD9-2B06-BEFE-5EAE6C47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68024-B2DD-4CF0-B951-7D3BC4FB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5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351D1-0D73-C3F0-27F6-102389025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C56C9-6EBE-C85C-2BAD-497494CC6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F7936-738F-3FB4-16A8-5F2751B6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53669-9F26-F333-D9FE-714A83BC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0F86B-FE96-D581-1B07-841F988FB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37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9AE9B-A65D-3602-9B78-1F3083E2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E76AB-1038-E7A2-821E-EEB55A47E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7AF0B-356B-73B9-21D4-E0A0E4A27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CBF7-940C-47F4-AF66-54830D6C6227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5A89E-46CE-FDDB-C6ED-95BFA3E30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9A53-3E81-26CB-CE2B-88948D214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2B254-F1B1-4FC3-9C77-2BAB66879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2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3E6FB90B-914F-B650-FD3A-6031DA17CF4E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FC9C202E-A238-FA54-BB26-6721F9AC4C46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B2DA3-1A2F-B5B3-6BCF-2F80D566EAE5}"/>
              </a:ext>
            </a:extLst>
          </p:cNvPr>
          <p:cNvSpPr txBox="1"/>
          <p:nvPr/>
        </p:nvSpPr>
        <p:spPr>
          <a:xfrm>
            <a:off x="2086528" y="1523293"/>
            <a:ext cx="8018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AI-POWERED COLLECTIONS STRATEGY</a:t>
            </a:r>
            <a:endParaRPr lang="en-IN" sz="44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A5592-812F-1D33-F6C6-CEBFC4E5D844}"/>
              </a:ext>
            </a:extLst>
          </p:cNvPr>
          <p:cNvSpPr txBox="1"/>
          <p:nvPr/>
        </p:nvSpPr>
        <p:spPr>
          <a:xfrm>
            <a:off x="2555240" y="3888157"/>
            <a:ext cx="7081520" cy="874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92D050"/>
                </a:solidFill>
                <a:latin typeface="Calisto MT" panose="02040603050505030304" pitchFamily="18" charset="0"/>
              </a:rPr>
              <a:t>LEVERAGING AGENTIC AI FOR SCALABLE, FAIR, AND EFFECTIVE DEBT MANAGEMENT AT GELDIUM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9DD1CD-9C80-25B6-C8C2-9101AA37CBDD}"/>
              </a:ext>
            </a:extLst>
          </p:cNvPr>
          <p:cNvSpPr/>
          <p:nvPr/>
        </p:nvSpPr>
        <p:spPr>
          <a:xfrm flipV="1">
            <a:off x="5511800" y="3406141"/>
            <a:ext cx="1168400" cy="45719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9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9357C-388B-611D-8D91-BEF460E0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87FF87B5-4733-F870-C274-97D9412313D2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9BC39037-ED8E-E62E-DA1E-18EB3D37DDE1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29734-5049-E766-8232-C175512E2058}"/>
              </a:ext>
            </a:extLst>
          </p:cNvPr>
          <p:cNvSpPr txBox="1"/>
          <p:nvPr/>
        </p:nvSpPr>
        <p:spPr>
          <a:xfrm>
            <a:off x="1226902" y="935162"/>
            <a:ext cx="9738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HOW THE AI COLLECTIONS SYSTEM WORKS</a:t>
            </a:r>
            <a:endParaRPr lang="en-IN" sz="32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FF8207-296C-604F-D9E8-9B2B577C6C5D}"/>
              </a:ext>
            </a:extLst>
          </p:cNvPr>
          <p:cNvSpPr/>
          <p:nvPr/>
        </p:nvSpPr>
        <p:spPr>
          <a:xfrm>
            <a:off x="1313180" y="2197182"/>
            <a:ext cx="3944988" cy="1898435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chemeClr val="tx1"/>
                </a:solidFill>
                <a:latin typeface="Calisto MT" panose="02040603050505030304" pitchFamily="18" charset="0"/>
              </a:rPr>
              <a:t>INPUT</a:t>
            </a:r>
          </a:p>
          <a:p>
            <a:pPr algn="ctr"/>
            <a:endParaRPr lang="en-IN" sz="1300" b="1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Customer demographics, income, employment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Credit utilization, missed payments, credit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Historical repayment trends, account tenure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464151-12AE-5100-E949-EADD4B69FCE3}"/>
              </a:ext>
            </a:extLst>
          </p:cNvPr>
          <p:cNvSpPr/>
          <p:nvPr/>
        </p:nvSpPr>
        <p:spPr>
          <a:xfrm>
            <a:off x="7044232" y="4275828"/>
            <a:ext cx="4051473" cy="1800508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sto MT" panose="02040603050505030304" pitchFamily="18" charset="0"/>
              </a:rPr>
              <a:t>LEARNING LOOP</a:t>
            </a:r>
          </a:p>
          <a:p>
            <a:pPr>
              <a:buNone/>
            </a:pPr>
            <a:endParaRPr lang="en-US" sz="13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Tracks repayment success, customer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Refines model and logic with new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Optimizes outreach cadence and messaging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04D589-B839-8299-AB5C-A4773A246CEB}"/>
              </a:ext>
            </a:extLst>
          </p:cNvPr>
          <p:cNvSpPr/>
          <p:nvPr/>
        </p:nvSpPr>
        <p:spPr>
          <a:xfrm>
            <a:off x="2423070" y="4259401"/>
            <a:ext cx="4051473" cy="1800508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sto MT" panose="02040603050505030304" pitchFamily="18" charset="0"/>
              </a:rPr>
              <a:t>DECISION LOGIC</a:t>
            </a:r>
          </a:p>
          <a:p>
            <a:pPr algn="ctr">
              <a:buNone/>
            </a:pPr>
            <a:endParaRPr lang="en-US" sz="13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Predictive model assigns delinquency risk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Business rules + ML outputs determine appropriate intervention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E6BD6F-3E58-9226-58E6-9507E83C8AE8}"/>
              </a:ext>
            </a:extLst>
          </p:cNvPr>
          <p:cNvSpPr/>
          <p:nvPr/>
        </p:nvSpPr>
        <p:spPr>
          <a:xfrm>
            <a:off x="5849285" y="2193509"/>
            <a:ext cx="4051473" cy="1800508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sto MT" panose="02040603050505030304" pitchFamily="18" charset="0"/>
              </a:rPr>
              <a:t>ACTIONS</a:t>
            </a:r>
          </a:p>
          <a:p>
            <a:pPr algn="ctr">
              <a:buNone/>
            </a:pPr>
            <a:endParaRPr lang="en-US" sz="1300" b="1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Auto-sending reminders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Triggering payment plan offers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Calisto MT" panose="02040603050505030304" pitchFamily="18" charset="0"/>
              </a:rPr>
              <a:t>Escalation for human case review</a:t>
            </a:r>
          </a:p>
        </p:txBody>
      </p:sp>
    </p:spTree>
    <p:extLst>
      <p:ext uri="{BB962C8B-B14F-4D97-AF65-F5344CB8AC3E}">
        <p14:creationId xmlns:p14="http://schemas.microsoft.com/office/powerpoint/2010/main" val="2560915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A2ABC-8AD1-6082-8C65-DB8F4854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DF065D10-0188-23C5-DB9F-4EC4E3B8F8D0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16ADEF73-8098-DB2D-3FB9-6F6DB019BEA9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A544A-0354-9795-DBD9-60F0C1290E44}"/>
              </a:ext>
            </a:extLst>
          </p:cNvPr>
          <p:cNvSpPr txBox="1"/>
          <p:nvPr/>
        </p:nvSpPr>
        <p:spPr>
          <a:xfrm>
            <a:off x="1524000" y="77674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SYSTEM FLOW</a:t>
            </a:r>
            <a:endParaRPr lang="en-IN" sz="40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70BFCE-EBA9-7BC7-06A3-39AF41E6F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098414"/>
              </p:ext>
            </p:extLst>
          </p:nvPr>
        </p:nvGraphicFramePr>
        <p:xfrm>
          <a:off x="1524001" y="2104103"/>
          <a:ext cx="9143999" cy="3328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20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94503-6DDB-D10D-A26C-26508F13E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B1AAD5BA-4AD8-8B26-14FF-ED226C7BF073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CECEDFF-8E97-29AE-56ED-32F11D598066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1702C-3ABF-1062-15DD-EADFE65FF1A7}"/>
              </a:ext>
            </a:extLst>
          </p:cNvPr>
          <p:cNvSpPr txBox="1"/>
          <p:nvPr/>
        </p:nvSpPr>
        <p:spPr>
          <a:xfrm>
            <a:off x="1524000" y="77674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ROLE OF AGENTIC AI</a:t>
            </a:r>
            <a:endParaRPr lang="en-IN" sz="40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4EF142-C5FB-3B95-FCF5-6D8BBA26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591192"/>
              </p:ext>
            </p:extLst>
          </p:nvPr>
        </p:nvGraphicFramePr>
        <p:xfrm>
          <a:off x="1315720" y="2163098"/>
          <a:ext cx="9560560" cy="35169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8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579">
                <a:tc>
                  <a:txBody>
                    <a:bodyPr/>
                    <a:lstStyle/>
                    <a:p>
                      <a:r>
                        <a:rPr dirty="0"/>
                        <a:t>Autonomous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Human Oversight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r>
                        <a:rPr dirty="0"/>
                        <a:t>Sending SMS/email reminders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Approving hardship relief or deferral programs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r>
                        <a:rPr dirty="0"/>
                        <a:t>Adjusting outreach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Reviewing edge cases or disputes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545">
                <a:tc>
                  <a:txBody>
                    <a:bodyPr/>
                    <a:lstStyle/>
                    <a:p>
                      <a:r>
                        <a:rPr dirty="0"/>
                        <a:t>Re-ranking customer priorities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Making exceptions to credit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dirty="0"/>
                        <a:t>Learning from response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Ensuring ethical compliance in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37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7CE5B-9661-2085-5560-621B7E1E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154D30C0-1B6E-84C6-A311-96FB3A05DAB1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59E58AD1-3484-80DF-707B-C781E5F7BD22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E5D3C-50B2-A690-5316-7F6EB2215727}"/>
              </a:ext>
            </a:extLst>
          </p:cNvPr>
          <p:cNvSpPr txBox="1"/>
          <p:nvPr/>
        </p:nvSpPr>
        <p:spPr>
          <a:xfrm>
            <a:off x="1524000" y="120346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RESPONSIBLE AI GUARDRAILS</a:t>
            </a:r>
            <a:endParaRPr lang="en-IN" sz="40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04074C-2A3C-3776-E6C4-591CC205E469}"/>
              </a:ext>
            </a:extLst>
          </p:cNvPr>
          <p:cNvSpPr/>
          <p:nvPr/>
        </p:nvSpPr>
        <p:spPr>
          <a:xfrm>
            <a:off x="1310804" y="2534718"/>
            <a:ext cx="2245360" cy="2693383"/>
          </a:xfrm>
          <a:prstGeom prst="roundRect">
            <a:avLst>
              <a:gd name="adj" fmla="val 19025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 dirty="0">
                <a:latin typeface="Calisto MT" panose="02040603050505030304" pitchFamily="18" charset="0"/>
              </a:rPr>
              <a:t>FAIRNESS AUDITS</a:t>
            </a:r>
          </a:p>
          <a:p>
            <a:pPr algn="ctr">
              <a:buNone/>
            </a:pPr>
            <a:endParaRPr lang="en-US" dirty="0">
              <a:latin typeface="Calisto MT" panose="02040603050505030304" pitchFamily="18" charset="0"/>
            </a:endParaRPr>
          </a:p>
          <a:p>
            <a:pPr algn="ctr"/>
            <a:r>
              <a:rPr lang="en-US" dirty="0">
                <a:latin typeface="Calisto MT" panose="02040603050505030304" pitchFamily="18" charset="0"/>
              </a:rPr>
              <a:t>Regular bias detection across demographic segments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C5FC8A-8A48-E0AA-370C-E7F732EED9BB}"/>
              </a:ext>
            </a:extLst>
          </p:cNvPr>
          <p:cNvSpPr/>
          <p:nvPr/>
        </p:nvSpPr>
        <p:spPr>
          <a:xfrm>
            <a:off x="3698404" y="2534718"/>
            <a:ext cx="2245360" cy="2693383"/>
          </a:xfrm>
          <a:prstGeom prst="roundRect">
            <a:avLst>
              <a:gd name="adj" fmla="val 19025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 dirty="0">
                <a:latin typeface="Calisto MT" panose="02040603050505030304" pitchFamily="18" charset="0"/>
              </a:rPr>
              <a:t>EXPLAIN-ABILITY TOOLS</a:t>
            </a:r>
          </a:p>
          <a:p>
            <a:pPr algn="ctr">
              <a:buNone/>
            </a:pPr>
            <a:br>
              <a:rPr lang="en-US" dirty="0">
                <a:latin typeface="Calisto MT" panose="02040603050505030304" pitchFamily="18" charset="0"/>
              </a:rPr>
            </a:br>
            <a:r>
              <a:rPr lang="en-US" dirty="0">
                <a:latin typeface="Calisto MT" panose="02040603050505030304" pitchFamily="18" charset="0"/>
              </a:rPr>
              <a:t>SHAP or decision trees for interpreting predictions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ECDF7-184A-9243-24B8-85597EF3B553}"/>
              </a:ext>
            </a:extLst>
          </p:cNvPr>
          <p:cNvSpPr/>
          <p:nvPr/>
        </p:nvSpPr>
        <p:spPr>
          <a:xfrm>
            <a:off x="6086004" y="2534717"/>
            <a:ext cx="2245360" cy="2693383"/>
          </a:xfrm>
          <a:prstGeom prst="roundRect">
            <a:avLst>
              <a:gd name="adj" fmla="val 19025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 dirty="0">
                <a:latin typeface="Calisto MT" panose="02040603050505030304" pitchFamily="18" charset="0"/>
              </a:rPr>
              <a:t>REGULATORY COMPLIANCE</a:t>
            </a:r>
          </a:p>
          <a:p>
            <a:pPr algn="ctr">
              <a:buNone/>
            </a:pPr>
            <a:br>
              <a:rPr lang="en-US" dirty="0">
                <a:latin typeface="Calisto MT" panose="02040603050505030304" pitchFamily="18" charset="0"/>
              </a:rPr>
            </a:br>
            <a:r>
              <a:rPr lang="en-US" dirty="0">
                <a:latin typeface="Calisto MT" panose="02040603050505030304" pitchFamily="18" charset="0"/>
              </a:rPr>
              <a:t>Aligned with GDPR, ECOA, and local lending laws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877A64-4DA3-D61D-DF2A-AE526F90C746}"/>
              </a:ext>
            </a:extLst>
          </p:cNvPr>
          <p:cNvSpPr/>
          <p:nvPr/>
        </p:nvSpPr>
        <p:spPr>
          <a:xfrm>
            <a:off x="8479422" y="2534717"/>
            <a:ext cx="2245360" cy="2693383"/>
          </a:xfrm>
          <a:prstGeom prst="roundRect">
            <a:avLst>
              <a:gd name="adj" fmla="val 19025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 dirty="0">
                <a:latin typeface="Calisto MT" panose="02040603050505030304" pitchFamily="18" charset="0"/>
              </a:rPr>
              <a:t>HUMAN-IN-THE-LOOP</a:t>
            </a:r>
          </a:p>
          <a:p>
            <a:pPr algn="ctr">
              <a:buNone/>
            </a:pPr>
            <a:br>
              <a:rPr lang="en-US" dirty="0">
                <a:latin typeface="Calisto MT" panose="02040603050505030304" pitchFamily="18" charset="0"/>
              </a:rPr>
            </a:br>
            <a:r>
              <a:rPr lang="en-US" dirty="0">
                <a:latin typeface="Calisto MT" panose="02040603050505030304" pitchFamily="18" charset="0"/>
              </a:rPr>
              <a:t>Escalation paths for sensitive or high-impact decisions</a:t>
            </a:r>
          </a:p>
        </p:txBody>
      </p:sp>
    </p:spTree>
    <p:extLst>
      <p:ext uri="{BB962C8B-B14F-4D97-AF65-F5344CB8AC3E}">
        <p14:creationId xmlns:p14="http://schemas.microsoft.com/office/powerpoint/2010/main" val="390985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E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D112A-1E24-CBD5-5631-04A746F9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 Frame 3">
            <a:extLst>
              <a:ext uri="{FF2B5EF4-FFF2-40B4-BE49-F238E27FC236}">
                <a16:creationId xmlns:a16="http://schemas.microsoft.com/office/drawing/2014/main" id="{443E80AA-0860-43CB-E511-FCD261A0DAC7}"/>
              </a:ext>
            </a:extLst>
          </p:cNvPr>
          <p:cNvSpPr/>
          <p:nvPr/>
        </p:nvSpPr>
        <p:spPr>
          <a:xfrm>
            <a:off x="599768" y="580104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C9C3761D-42A3-9387-2303-93750D3E0784}"/>
              </a:ext>
            </a:extLst>
          </p:cNvPr>
          <p:cNvSpPr/>
          <p:nvPr/>
        </p:nvSpPr>
        <p:spPr>
          <a:xfrm rot="10800000">
            <a:off x="9866671" y="4753897"/>
            <a:ext cx="1681316" cy="1582994"/>
          </a:xfrm>
          <a:prstGeom prst="halfFrame">
            <a:avLst>
              <a:gd name="adj1" fmla="val 3917"/>
              <a:gd name="adj2" fmla="val 465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84663-8A64-38C6-002D-D7953769A1BB}"/>
              </a:ext>
            </a:extLst>
          </p:cNvPr>
          <p:cNvSpPr txBox="1"/>
          <p:nvPr/>
        </p:nvSpPr>
        <p:spPr>
          <a:xfrm>
            <a:off x="1524000" y="120346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  <a:cs typeface="Arial" panose="020B0604020202020204" pitchFamily="34" charset="0"/>
              </a:rPr>
              <a:t>EXPECTED BUSINESS IMPACT</a:t>
            </a:r>
            <a:endParaRPr lang="en-IN" sz="4000" b="1" spc="5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F94737-0124-05B7-02D0-B7628C68966F}"/>
              </a:ext>
            </a:extLst>
          </p:cNvPr>
          <p:cNvSpPr/>
          <p:nvPr/>
        </p:nvSpPr>
        <p:spPr>
          <a:xfrm>
            <a:off x="3408762" y="2409049"/>
            <a:ext cx="5374476" cy="1582993"/>
          </a:xfrm>
          <a:prstGeom prst="roundRect">
            <a:avLst>
              <a:gd name="adj" fmla="val 19025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b="1">
                <a:latin typeface="Calisto MT" panose="02040603050505030304" pitchFamily="18" charset="0"/>
              </a:rPr>
              <a:t>BUSINESS KPIs</a:t>
            </a:r>
          </a:p>
          <a:p>
            <a:pPr algn="ctr">
              <a:buNone/>
            </a:pPr>
            <a:endParaRPr lang="en-US" b="1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1600">
                <a:latin typeface="Calisto MT" panose="02040603050505030304" pitchFamily="18" charset="0"/>
              </a:rPr>
              <a:t>📉 15–20% reduction in 30+ day delinquency rates</a:t>
            </a:r>
          </a:p>
          <a:p>
            <a:pPr>
              <a:buNone/>
            </a:pPr>
            <a:r>
              <a:rPr lang="en-US" sz="1600">
                <a:latin typeface="Calisto MT" panose="02040603050505030304" pitchFamily="18" charset="0"/>
              </a:rPr>
              <a:t>💰 Lower cost-to-collect via automation</a:t>
            </a:r>
          </a:p>
          <a:p>
            <a:r>
              <a:rPr lang="en-US" sz="1600">
                <a:latin typeface="Calisto MT" panose="02040603050505030304" pitchFamily="18" charset="0"/>
              </a:rPr>
              <a:t>🔄 Improved outreach efficiency and resource allocation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81E4C1-87F1-C95E-C7B5-CDCC79926001}"/>
              </a:ext>
            </a:extLst>
          </p:cNvPr>
          <p:cNvSpPr/>
          <p:nvPr/>
        </p:nvSpPr>
        <p:spPr>
          <a:xfrm>
            <a:off x="4076741" y="4071539"/>
            <a:ext cx="4038518" cy="1582993"/>
          </a:xfrm>
          <a:prstGeom prst="roundRect">
            <a:avLst>
              <a:gd name="adj" fmla="val 19025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b="1" dirty="0">
                <a:latin typeface="Calisto MT" panose="02040603050505030304" pitchFamily="18" charset="0"/>
              </a:rPr>
              <a:t>CUSTOMER OUTCOMES</a:t>
            </a:r>
          </a:p>
          <a:p>
            <a:pPr algn="ctr">
              <a:buNone/>
            </a:pPr>
            <a:endParaRPr lang="en-US" b="1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1600" dirty="0">
                <a:latin typeface="Calisto MT" panose="02040603050505030304" pitchFamily="18" charset="0"/>
              </a:rPr>
              <a:t>💡 Personalized, timely support</a:t>
            </a:r>
          </a:p>
          <a:p>
            <a:pPr>
              <a:buNone/>
            </a:pPr>
            <a:r>
              <a:rPr lang="en-US" sz="1600" dirty="0">
                <a:latin typeface="Calisto MT" panose="02040603050505030304" pitchFamily="18" charset="0"/>
              </a:rPr>
              <a:t>💬 Increased satisfaction and trust</a:t>
            </a:r>
          </a:p>
          <a:p>
            <a:r>
              <a:rPr lang="en-US" sz="1600" dirty="0">
                <a:latin typeface="Calisto MT" panose="02040603050505030304" pitchFamily="18" charset="0"/>
              </a:rPr>
              <a:t>🤝 Fairer, more transparent treatment</a:t>
            </a:r>
          </a:p>
        </p:txBody>
      </p:sp>
    </p:spTree>
    <p:extLst>
      <p:ext uri="{BB962C8B-B14F-4D97-AF65-F5344CB8AC3E}">
        <p14:creationId xmlns:p14="http://schemas.microsoft.com/office/powerpoint/2010/main" val="280109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246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Koley</dc:creator>
  <cp:lastModifiedBy>J Koley</cp:lastModifiedBy>
  <cp:revision>1</cp:revision>
  <dcterms:created xsi:type="dcterms:W3CDTF">2025-08-05T05:39:03Z</dcterms:created>
  <dcterms:modified xsi:type="dcterms:W3CDTF">2025-08-05T06:32:36Z</dcterms:modified>
</cp:coreProperties>
</file>